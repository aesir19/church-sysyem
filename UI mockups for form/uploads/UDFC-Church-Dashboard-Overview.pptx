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654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74920"/>
            <a:ext cx="12191695" cy="1783080"/>
          </a:xfrm>
          <a:prstGeom prst="rect">
            <a:avLst/>
          </a:prstGeom>
          <a:solidFill>
            <a:srgbClr val="0F30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22960" y="1874519"/>
            <a:ext cx="1005840" cy="63500"/>
          </a:xfrm>
          <a:prstGeom prst="rect">
            <a:avLst/>
          </a:prstGeom>
          <a:solidFill>
            <a:srgbClr val="93B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93B4F5"/>
                </a:solidFill>
                <a:latin typeface="Segoe UI Semibold"/>
              </a:rPr>
              <a:t>UNITED DOOR OF FAITH CHURCH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514600"/>
            <a:ext cx="1060704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400" b="1">
                <a:solidFill>
                  <a:srgbClr val="FFFFFF"/>
                </a:solidFill>
                <a:latin typeface="Segoe UI Semibold"/>
              </a:rPr>
              <a:t>Church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611880"/>
            <a:ext cx="98755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C9D8F5"/>
                </a:solidFill>
                <a:latin typeface="Segoe UI Light"/>
              </a:rPr>
              <a:t>One secure place to manage members, attendance, finances, and ministries — across every church.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5623560"/>
            <a:ext cx="2331720" cy="658368"/>
          </a:xfrm>
          <a:prstGeom prst="roundRect">
            <a:avLst>
              <a:gd name="adj" fmla="val 50000"/>
            </a:avLst>
          </a:prstGeom>
          <a:solidFill>
            <a:srgbClr val="16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5623560"/>
            <a:ext cx="233172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CE6FA"/>
                </a:solidFill>
                <a:latin typeface="Segoe UI Semibold"/>
              </a:rPr>
              <a:t>Secure by design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5623560"/>
            <a:ext cx="2331720" cy="658368"/>
          </a:xfrm>
          <a:prstGeom prst="roundRect">
            <a:avLst>
              <a:gd name="adj" fmla="val 50000"/>
            </a:avLst>
          </a:prstGeom>
          <a:solidFill>
            <a:srgbClr val="16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37560" y="5844220"/>
            <a:ext cx="2331720" cy="21704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en-PH" sz="1400" dirty="0">
                <a:solidFill>
                  <a:schemeClr val="bg1"/>
                </a:solidFill>
              </a:rPr>
              <a:t>₱</a:t>
            </a:r>
            <a:r>
              <a:rPr sz="1300" b="1" dirty="0">
                <a:solidFill>
                  <a:srgbClr val="DCE6FA"/>
                </a:solidFill>
                <a:latin typeface="Segoe UI Semibold"/>
              </a:rPr>
              <a:t>0 / month to run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52160" y="5623560"/>
            <a:ext cx="2331720" cy="658368"/>
          </a:xfrm>
          <a:prstGeom prst="roundRect">
            <a:avLst>
              <a:gd name="adj" fmla="val 50000"/>
            </a:avLst>
          </a:prstGeom>
          <a:solidFill>
            <a:srgbClr val="16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852160" y="5623560"/>
            <a:ext cx="233172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CE6FA"/>
                </a:solidFill>
                <a:latin typeface="Segoe UI Semibold"/>
              </a:rPr>
              <a:t>Multi-church ready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5623560"/>
            <a:ext cx="29260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9DB4E6"/>
                </a:solidFill>
                <a:latin typeface="Segoe UI Semibold"/>
              </a:rPr>
              <a:t>Capability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A56DB"/>
                </a:solidFill>
                <a:latin typeface="Segoe UI Semibold"/>
              </a:rPr>
              <a:t>THE PROBLEM IT SOLVES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96112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>
                <a:solidFill>
                  <a:srgbClr val="1E293B"/>
                </a:solidFill>
                <a:latin typeface="Segoe UI Semibold"/>
              </a:rPr>
              <a:t>Church records shouldn't live on paper and scattered files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386078"/>
            <a:ext cx="822960" cy="5080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5257800" cy="196596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2084832"/>
            <a:ext cx="50800" cy="14630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3000" y="2084832"/>
            <a:ext cx="8229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0">
                <a:solidFill>
                  <a:srgbClr val="DC2626"/>
                </a:solidFill>
                <a:latin typeface="Segoe UI"/>
              </a:rPr>
              <a:t>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20" y="2103120"/>
            <a:ext cx="3977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E293B"/>
                </a:solidFill>
                <a:latin typeface="Segoe UI Semibold"/>
              </a:rPr>
              <a:t>Records are scattered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20" y="2578608"/>
            <a:ext cx="39319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475569"/>
                </a:solidFill>
                <a:latin typeface="Segoe UI"/>
              </a:rPr>
              <a:t>Member details, giving records, and attendance sit in notebooks, spreadsheets, and phones — hard to find, easy to lose.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828800"/>
            <a:ext cx="5257800" cy="196596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00800" y="2084832"/>
            <a:ext cx="50800" cy="14630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20840" y="2084832"/>
            <a:ext cx="8229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0">
                <a:solidFill>
                  <a:srgbClr val="DC2626"/>
                </a:solidFill>
                <a:latin typeface="Segoe UI"/>
              </a:rPr>
              <a:t>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52360" y="2103120"/>
            <a:ext cx="3977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E293B"/>
                </a:solidFill>
                <a:latin typeface="Segoe UI Semibold"/>
              </a:rPr>
              <a:t>Everyone sees everything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2360" y="2578608"/>
            <a:ext cx="39319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475569"/>
                </a:solidFill>
                <a:latin typeface="Segoe UI"/>
              </a:rPr>
              <a:t>No way to control who can view sensitive member information or church finances.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114800"/>
            <a:ext cx="5257800" cy="196596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22960" y="4370832"/>
            <a:ext cx="50800" cy="14630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43000" y="4370832"/>
            <a:ext cx="8229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0">
                <a:solidFill>
                  <a:srgbClr val="DC2626"/>
                </a:solidFill>
                <a:latin typeface="Segoe UI"/>
              </a:rPr>
              <a:t>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20" y="4389120"/>
            <a:ext cx="3977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E293B"/>
                </a:solidFill>
                <a:latin typeface="Segoe UI Semibold"/>
              </a:rPr>
              <a:t>Each church works alone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4520" y="4864608"/>
            <a:ext cx="39319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475569"/>
                </a:solidFill>
                <a:latin typeface="Segoe UI"/>
              </a:rPr>
              <a:t>Leadership has no single view across congregations; numbers are combined by hand.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4114800"/>
            <a:ext cx="5257800" cy="196596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400800" y="4370832"/>
            <a:ext cx="50800" cy="14630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720840" y="4370832"/>
            <a:ext cx="8229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0">
                <a:solidFill>
                  <a:srgbClr val="DC2626"/>
                </a:solidFill>
                <a:latin typeface="Segoe UI"/>
              </a:rPr>
              <a:t>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4389120"/>
            <a:ext cx="3977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E293B"/>
                </a:solidFill>
                <a:latin typeface="Segoe UI Semibold"/>
              </a:rPr>
              <a:t>Tools cost money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52360" y="4864608"/>
            <a:ext cx="39319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475569"/>
                </a:solidFill>
                <a:latin typeface="Segoe UI"/>
              </a:rPr>
              <a:t>Most church software charges monthly fees that add up fast for a growing ministry.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0" y="6419088"/>
            <a:ext cx="640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A56DB"/>
                </a:solidFill>
                <a:latin typeface="Segoe UI Semibold"/>
              </a:rPr>
              <a:t>THE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96112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dirty="0">
                <a:solidFill>
                  <a:srgbClr val="1E293B"/>
                </a:solidFill>
                <a:latin typeface="Segoe UI Semibold"/>
              </a:rPr>
              <a:t>One dashboard. Four everyday jobs. Built-in access control.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411478"/>
            <a:ext cx="822960" cy="5080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54583" y="2148840"/>
            <a:ext cx="260604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54583" y="2148840"/>
            <a:ext cx="2606040" cy="128016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74623" y="2560320"/>
            <a:ext cx="822960" cy="822960"/>
          </a:xfrm>
          <a:prstGeom prst="roundRect">
            <a:avLst>
              <a:gd name="adj" fmla="val 50000"/>
            </a:avLst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4623" y="2560320"/>
            <a:ext cx="82296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Segoe UI Semibold"/>
              </a:rPr>
              <a:t>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4623" y="3611880"/>
            <a:ext cx="1965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E293B"/>
                </a:solidFill>
                <a:latin typeface="Segoe UI Semibold"/>
              </a:rPr>
              <a:t>Member Directory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4623" y="4114800"/>
            <a:ext cx="19659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475569"/>
                </a:solidFill>
                <a:latin typeface="Segoe UI"/>
              </a:rPr>
              <a:t>Every member's profile, searchable and always up to date.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0079" y="2148840"/>
            <a:ext cx="260604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380079" y="2148840"/>
            <a:ext cx="2606040" cy="128016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700119" y="2560320"/>
            <a:ext cx="822960" cy="822960"/>
          </a:xfrm>
          <a:prstGeom prst="roundRect">
            <a:avLst>
              <a:gd name="adj" fmla="val 50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700119" y="2560320"/>
            <a:ext cx="82296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Segoe UI Semibold"/>
              </a:rPr>
              <a:t>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0119" y="3611880"/>
            <a:ext cx="1965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E293B"/>
                </a:solidFill>
                <a:latin typeface="Segoe UI Semibold"/>
              </a:rPr>
              <a:t>Attendance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0119" y="4114800"/>
            <a:ext cx="19659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475569"/>
                </a:solidFill>
                <a:latin typeface="Segoe UI"/>
              </a:rPr>
              <a:t>QR self check-in and service tracking, no paper sign-in sheets.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5575" y="2148840"/>
            <a:ext cx="260604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05575" y="2148840"/>
            <a:ext cx="2606040" cy="128016"/>
          </a:xfrm>
          <a:prstGeom prst="rect">
            <a:avLst/>
          </a:prstGeom>
          <a:solidFill>
            <a:srgbClr val="0F9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525615" y="2560320"/>
            <a:ext cx="822960" cy="822960"/>
          </a:xfrm>
          <a:prstGeom prst="roundRect">
            <a:avLst>
              <a:gd name="adj" fmla="val 50000"/>
            </a:avLst>
          </a:prstGeom>
          <a:solidFill>
            <a:srgbClr val="0F9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25615" y="2560320"/>
            <a:ext cx="82296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Segoe UI Semibold"/>
              </a:rPr>
              <a:t>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5615" y="3611880"/>
            <a:ext cx="1965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E293B"/>
                </a:solidFill>
                <a:latin typeface="Segoe UI Semibold"/>
              </a:rPr>
              <a:t>Church Finances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25615" y="4114800"/>
            <a:ext cx="19659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475569"/>
                </a:solidFill>
                <a:latin typeface="Segoe UI"/>
              </a:rPr>
              <a:t>Tithes, offerings, and expenses with an automatic monthly report.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31071" y="2148840"/>
            <a:ext cx="260604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031071" y="2148840"/>
            <a:ext cx="2606040" cy="128016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9351111" y="2560320"/>
            <a:ext cx="822960" cy="82296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351111" y="2560320"/>
            <a:ext cx="82296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Segoe UI Semibold"/>
              </a:rPr>
              <a:t>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51111" y="3611880"/>
            <a:ext cx="1965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E293B"/>
                </a:solidFill>
                <a:latin typeface="Segoe UI Semibold"/>
              </a:rPr>
              <a:t>Ministries &amp; Groups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51111" y="4114800"/>
            <a:ext cx="19659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475569"/>
                </a:solidFill>
                <a:latin typeface="Segoe UI"/>
              </a:rPr>
              <a:t>Organize ministries and small groups and who belongs to each.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44068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E293B"/>
                </a:solidFill>
                <a:latin typeface="Segoe UI Semibold"/>
              </a:rPr>
              <a:t>Underneath it all: </a:t>
            </a:r>
            <a:r>
              <a:rPr sz="1500" b="0">
                <a:solidFill>
                  <a:srgbClr val="475569"/>
                </a:solidFill>
                <a:latin typeface="Segoe UI"/>
              </a:rPr>
              <a:t>every screen respects who you are. People only see and change what their role allows.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0" y="6419088"/>
            <a:ext cx="640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A56DB"/>
                </a:solidFill>
                <a:latin typeface="Segoe UI Semibold"/>
              </a:rPr>
              <a:t>CAPABILITY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96112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>
                <a:solidFill>
                  <a:srgbClr val="1E293B"/>
                </a:solidFill>
                <a:latin typeface="Segoe UI Semibold"/>
              </a:rPr>
              <a:t>Member Directory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517904"/>
            <a:ext cx="822960" cy="5080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1965960"/>
            <a:ext cx="1051560" cy="1051560"/>
          </a:xfrm>
          <a:prstGeom prst="roundRect">
            <a:avLst>
              <a:gd name="adj" fmla="val 50000"/>
            </a:avLst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05156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Segoe UI Semibold"/>
              </a:rPr>
              <a:t>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46120"/>
            <a:ext cx="434340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1E293B"/>
                </a:solidFill>
                <a:latin typeface="Segoe UI Light"/>
              </a:rPr>
              <a:t>The living record of everyone in the church.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40" y="1554480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A56DB"/>
                </a:solidFill>
                <a:latin typeface="Segoe UI Semibold"/>
              </a:rPr>
              <a:t>WHAT IT DOES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32120" y="1874519"/>
            <a:ext cx="5852160" cy="278892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5852160" y="2194560"/>
            <a:ext cx="146304" cy="146304"/>
          </a:xfrm>
          <a:prstGeom prst="ellipse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53912" y="2121408"/>
            <a:ext cx="4937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1E293B"/>
                </a:solidFill>
                <a:latin typeface="Segoe UI"/>
              </a:rPr>
              <a:t>One profile per member — name, contact, birthdate, address, baptismal status.</a:t>
            </a:r>
          </a:p>
        </p:txBody>
      </p:sp>
      <p:sp>
        <p:nvSpPr>
          <p:cNvPr id="13" name="Oval 12"/>
          <p:cNvSpPr/>
          <p:nvPr/>
        </p:nvSpPr>
        <p:spPr>
          <a:xfrm>
            <a:off x="5852160" y="2711195"/>
            <a:ext cx="146304" cy="146304"/>
          </a:xfrm>
          <a:prstGeom prst="ellipse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53912" y="2638043"/>
            <a:ext cx="4937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1E293B"/>
                </a:solidFill>
                <a:latin typeface="Segoe UI"/>
              </a:rPr>
              <a:t>Fast search and a sortable member list.</a:t>
            </a:r>
          </a:p>
        </p:txBody>
      </p:sp>
      <p:sp>
        <p:nvSpPr>
          <p:cNvPr id="15" name="Oval 14"/>
          <p:cNvSpPr/>
          <p:nvPr/>
        </p:nvSpPr>
        <p:spPr>
          <a:xfrm>
            <a:off x="5852160" y="3227830"/>
            <a:ext cx="146304" cy="146304"/>
          </a:xfrm>
          <a:prstGeom prst="ellipse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53912" y="3154678"/>
            <a:ext cx="4937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1E293B"/>
                </a:solidFill>
                <a:latin typeface="Segoe UI"/>
              </a:rPr>
              <a:t>Add, update, or archive members (nobody is ever truly deleted).</a:t>
            </a:r>
          </a:p>
        </p:txBody>
      </p:sp>
      <p:sp>
        <p:nvSpPr>
          <p:cNvPr id="17" name="Oval 16"/>
          <p:cNvSpPr/>
          <p:nvPr/>
        </p:nvSpPr>
        <p:spPr>
          <a:xfrm>
            <a:off x="5852160" y="3744465"/>
            <a:ext cx="146304" cy="146304"/>
          </a:xfrm>
          <a:prstGeom prst="ellipse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53912" y="3671313"/>
            <a:ext cx="4937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1E293B"/>
                </a:solidFill>
                <a:latin typeface="Segoe UI"/>
              </a:rPr>
              <a:t>See at a glance which ministries and small groups a person belongs to.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892040"/>
            <a:ext cx="10561320" cy="1234440"/>
          </a:xfrm>
          <a:prstGeom prst="roundRect">
            <a:avLst>
              <a:gd name="adj" fmla="val 8000"/>
            </a:avLst>
          </a:prstGeom>
          <a:solidFill>
            <a:srgbClr val="EFF4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22960" y="4892040"/>
            <a:ext cx="63500" cy="123444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43000" y="5074920"/>
            <a:ext cx="201168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A56DB"/>
                </a:solidFill>
                <a:latin typeface="Segoe UI Semibold"/>
              </a:rPr>
              <a:t>SOLVES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5029200"/>
            <a:ext cx="841248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>
                <a:solidFill>
                  <a:srgbClr val="1E293B"/>
                </a:solidFill>
                <a:latin typeface="Segoe UI"/>
              </a:rPr>
              <a:t>The 'where did we write that down?' problem. Member information is in one trusted place, searchable in seconds, and safe from accidental loss.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0" y="6419088"/>
            <a:ext cx="640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E7490"/>
                </a:solidFill>
                <a:latin typeface="Segoe UI Semibold"/>
              </a:rPr>
              <a:t>CAPABILITY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96112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>
                <a:solidFill>
                  <a:srgbClr val="1E293B"/>
                </a:solidFill>
                <a:latin typeface="Segoe UI Semibold"/>
              </a:rPr>
              <a:t>Attendance &amp; QR Check-in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517904"/>
            <a:ext cx="822960" cy="5080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1965960"/>
            <a:ext cx="1051560" cy="1051560"/>
          </a:xfrm>
          <a:prstGeom prst="roundRect">
            <a:avLst>
              <a:gd name="adj" fmla="val 50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05156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Segoe UI Semibold"/>
              </a:rPr>
              <a:t>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46120"/>
            <a:ext cx="434340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1E293B"/>
                </a:solidFill>
                <a:latin typeface="Segoe UI Light"/>
              </a:rPr>
              <a:t>Know who came — without a clipboard.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40" y="1554480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E7490"/>
                </a:solidFill>
                <a:latin typeface="Segoe UI Semibold"/>
              </a:rPr>
              <a:t>WHAT IT DOES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32120" y="1874519"/>
            <a:ext cx="5852160" cy="278892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5852160" y="2194560"/>
            <a:ext cx="146304" cy="146304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53912" y="2121408"/>
            <a:ext cx="4937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1E293B"/>
                </a:solidFill>
                <a:latin typeface="Segoe UI"/>
              </a:rPr>
              <a:t>Members check themselves in by scanning a QR code — no clipboards.</a:t>
            </a:r>
          </a:p>
        </p:txBody>
      </p:sp>
      <p:sp>
        <p:nvSpPr>
          <p:cNvPr id="13" name="Oval 12"/>
          <p:cNvSpPr/>
          <p:nvPr/>
        </p:nvSpPr>
        <p:spPr>
          <a:xfrm>
            <a:off x="5852160" y="2711195"/>
            <a:ext cx="146304" cy="146304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53912" y="2638043"/>
            <a:ext cx="4937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1E293B"/>
                </a:solidFill>
                <a:latin typeface="Segoe UI"/>
              </a:rPr>
              <a:t>Each service opens and closes; attendance is recorded automatically.</a:t>
            </a:r>
          </a:p>
        </p:txBody>
      </p:sp>
      <p:sp>
        <p:nvSpPr>
          <p:cNvPr id="15" name="Oval 14"/>
          <p:cNvSpPr/>
          <p:nvPr/>
        </p:nvSpPr>
        <p:spPr>
          <a:xfrm>
            <a:off x="5852160" y="3227830"/>
            <a:ext cx="146304" cy="146304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53912" y="3154678"/>
            <a:ext cx="4937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1E293B"/>
                </a:solidFill>
                <a:latin typeface="Segoe UI"/>
              </a:rPr>
              <a:t>The Welcome Team manages services and reviews who attended.</a:t>
            </a:r>
          </a:p>
        </p:txBody>
      </p:sp>
      <p:sp>
        <p:nvSpPr>
          <p:cNvPr id="17" name="Oval 16"/>
          <p:cNvSpPr/>
          <p:nvPr/>
        </p:nvSpPr>
        <p:spPr>
          <a:xfrm>
            <a:off x="5852160" y="3744465"/>
            <a:ext cx="146304" cy="146304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53912" y="3671313"/>
            <a:ext cx="4937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1E293B"/>
                </a:solidFill>
                <a:latin typeface="Segoe UI"/>
              </a:rPr>
              <a:t>Check-in links rotate for security, so old codes stop working.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892040"/>
            <a:ext cx="10561320" cy="1234440"/>
          </a:xfrm>
          <a:prstGeom prst="roundRect">
            <a:avLst>
              <a:gd name="adj" fmla="val 8000"/>
            </a:avLst>
          </a:prstGeom>
          <a:solidFill>
            <a:srgbClr val="EFF4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22960" y="4892040"/>
            <a:ext cx="63500" cy="123444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43000" y="5074920"/>
            <a:ext cx="201168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E7490"/>
                </a:solidFill>
                <a:latin typeface="Segoe UI Semibold"/>
              </a:rPr>
              <a:t>SOLVES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5029200"/>
            <a:ext cx="841248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>
                <a:solidFill>
                  <a:srgbClr val="1E293B"/>
                </a:solidFill>
                <a:latin typeface="Segoe UI"/>
              </a:rPr>
              <a:t>Slow, error-prone paper sign-in. Attendance is captured instantly and counted for you, service by service.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0" y="6419088"/>
            <a:ext cx="640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F9D58"/>
                </a:solidFill>
                <a:latin typeface="Segoe UI Semibold"/>
              </a:rPr>
              <a:t>CAPABILITY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96112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>
                <a:solidFill>
                  <a:srgbClr val="1E293B"/>
                </a:solidFill>
                <a:latin typeface="Segoe UI Semibold"/>
              </a:rPr>
              <a:t>Church Finances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517904"/>
            <a:ext cx="822960" cy="50800"/>
          </a:xfrm>
          <a:prstGeom prst="rect">
            <a:avLst/>
          </a:prstGeom>
          <a:solidFill>
            <a:srgbClr val="0F9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1965960"/>
            <a:ext cx="1051560" cy="1051560"/>
          </a:xfrm>
          <a:prstGeom prst="roundRect">
            <a:avLst>
              <a:gd name="adj" fmla="val 50000"/>
            </a:avLst>
          </a:prstGeom>
          <a:solidFill>
            <a:srgbClr val="0F9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05156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Segoe UI Semibold"/>
              </a:rPr>
              <a:t>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46120"/>
            <a:ext cx="434340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1E293B"/>
                </a:solidFill>
                <a:latin typeface="Segoe UI Light"/>
              </a:rPr>
              <a:t>Giving and spending, always adding up.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40" y="1554480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F9D58"/>
                </a:solidFill>
                <a:latin typeface="Segoe UI Semibold"/>
              </a:rPr>
              <a:t>WHAT IT DOES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32120" y="1874519"/>
            <a:ext cx="5852160" cy="278892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5852160" y="2194560"/>
            <a:ext cx="146304" cy="146304"/>
          </a:xfrm>
          <a:prstGeom prst="ellipse">
            <a:avLst/>
          </a:prstGeom>
          <a:solidFill>
            <a:srgbClr val="0F9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53912" y="2121408"/>
            <a:ext cx="4937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1E293B"/>
                </a:solidFill>
                <a:latin typeface="Segoe UI"/>
              </a:rPr>
              <a:t>Record tithes and offerings, tied to a member or kept anonymous.</a:t>
            </a:r>
          </a:p>
        </p:txBody>
      </p:sp>
      <p:sp>
        <p:nvSpPr>
          <p:cNvPr id="13" name="Oval 12"/>
          <p:cNvSpPr/>
          <p:nvPr/>
        </p:nvSpPr>
        <p:spPr>
          <a:xfrm>
            <a:off x="5852160" y="2711195"/>
            <a:ext cx="146304" cy="146304"/>
          </a:xfrm>
          <a:prstGeom prst="ellipse">
            <a:avLst/>
          </a:prstGeom>
          <a:solidFill>
            <a:srgbClr val="0F9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53912" y="2638043"/>
            <a:ext cx="4937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1E293B"/>
                </a:solidFill>
                <a:latin typeface="Segoe UI"/>
              </a:rPr>
              <a:t>Log expenses, organized by month.</a:t>
            </a:r>
          </a:p>
        </p:txBody>
      </p:sp>
      <p:sp>
        <p:nvSpPr>
          <p:cNvPr id="15" name="Oval 14"/>
          <p:cNvSpPr/>
          <p:nvPr/>
        </p:nvSpPr>
        <p:spPr>
          <a:xfrm>
            <a:off x="5852160" y="3227830"/>
            <a:ext cx="146304" cy="146304"/>
          </a:xfrm>
          <a:prstGeom prst="ellipse">
            <a:avLst/>
          </a:prstGeom>
          <a:solidFill>
            <a:srgbClr val="0F9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53912" y="3154678"/>
            <a:ext cx="4937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1E293B"/>
                </a:solidFill>
                <a:latin typeface="Segoe UI"/>
              </a:rPr>
              <a:t>An automatic monthly report with a running balance — ready to print or save as PDF.</a:t>
            </a:r>
          </a:p>
        </p:txBody>
      </p:sp>
      <p:sp>
        <p:nvSpPr>
          <p:cNvPr id="17" name="Oval 16"/>
          <p:cNvSpPr/>
          <p:nvPr/>
        </p:nvSpPr>
        <p:spPr>
          <a:xfrm>
            <a:off x="5852160" y="3744465"/>
            <a:ext cx="146304" cy="146304"/>
          </a:xfrm>
          <a:prstGeom prst="ellipse">
            <a:avLst/>
          </a:prstGeom>
          <a:solidFill>
            <a:srgbClr val="0F9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53912" y="3671313"/>
            <a:ext cx="4937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1E293B"/>
                </a:solidFill>
                <a:latin typeface="Segoe UI"/>
              </a:rPr>
              <a:t>A short edit window keeps entries honest after they're saved.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892040"/>
            <a:ext cx="10561320" cy="1234440"/>
          </a:xfrm>
          <a:prstGeom prst="roundRect">
            <a:avLst>
              <a:gd name="adj" fmla="val 8000"/>
            </a:avLst>
          </a:prstGeom>
          <a:solidFill>
            <a:srgbClr val="EFF4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22960" y="4892040"/>
            <a:ext cx="63500" cy="1234440"/>
          </a:xfrm>
          <a:prstGeom prst="rect">
            <a:avLst/>
          </a:prstGeom>
          <a:solidFill>
            <a:srgbClr val="0F9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43000" y="5074920"/>
            <a:ext cx="201168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F9D58"/>
                </a:solidFill>
                <a:latin typeface="Segoe UI Semibold"/>
              </a:rPr>
              <a:t>SOLVES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5029200"/>
            <a:ext cx="841248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>
                <a:solidFill>
                  <a:srgbClr val="1E293B"/>
                </a:solidFill>
                <a:latin typeface="Segoe UI"/>
              </a:rPr>
              <a:t>Hours of manual bookkeeping and hand-totaled summaries. The monthly report builds itself and always reflects the latest corrections.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0" y="6419088"/>
            <a:ext cx="640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D28D9"/>
                </a:solidFill>
                <a:latin typeface="Segoe UI Semibold"/>
              </a:rPr>
              <a:t>CAPABILITY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96112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>
                <a:solidFill>
                  <a:srgbClr val="1E293B"/>
                </a:solidFill>
                <a:latin typeface="Segoe UI Semibold"/>
              </a:rPr>
              <a:t>Ministries &amp; Small Groups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517904"/>
            <a:ext cx="822960" cy="5080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1965960"/>
            <a:ext cx="1051560" cy="105156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05156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Segoe UI Semibold"/>
              </a:rPr>
              <a:t>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46120"/>
            <a:ext cx="434340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1E293B"/>
                </a:solidFill>
                <a:latin typeface="Segoe UI Light"/>
              </a:rPr>
              <a:t>The structure of how people serve and gather.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40" y="1554480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D28D9"/>
                </a:solidFill>
                <a:latin typeface="Segoe UI Semibold"/>
              </a:rPr>
              <a:t>WHAT IT DOES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32120" y="1874519"/>
            <a:ext cx="5852160" cy="278892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5852160" y="2194560"/>
            <a:ext cx="146304" cy="146304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53912" y="2121408"/>
            <a:ext cx="4937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1E293B"/>
                </a:solidFill>
                <a:latin typeface="Segoe UI"/>
              </a:rPr>
              <a:t>A shared catalog of ministries (Finance, Secretariat, Welcome Team, and more).</a:t>
            </a:r>
          </a:p>
        </p:txBody>
      </p:sp>
      <p:sp>
        <p:nvSpPr>
          <p:cNvPr id="13" name="Oval 12"/>
          <p:cNvSpPr/>
          <p:nvPr/>
        </p:nvSpPr>
        <p:spPr>
          <a:xfrm>
            <a:off x="5852160" y="2711195"/>
            <a:ext cx="146304" cy="146304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53912" y="2638043"/>
            <a:ext cx="4937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1E293B"/>
                </a:solidFill>
                <a:latin typeface="Segoe UI"/>
              </a:rPr>
              <a:t>Create and manage small groups for your own church.</a:t>
            </a:r>
          </a:p>
        </p:txBody>
      </p:sp>
      <p:sp>
        <p:nvSpPr>
          <p:cNvPr id="15" name="Oval 14"/>
          <p:cNvSpPr/>
          <p:nvPr/>
        </p:nvSpPr>
        <p:spPr>
          <a:xfrm>
            <a:off x="5852160" y="3227830"/>
            <a:ext cx="146304" cy="146304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53912" y="3154678"/>
            <a:ext cx="4937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1E293B"/>
                </a:solidFill>
                <a:latin typeface="Segoe UI"/>
              </a:rPr>
              <a:t>Add or remove people from groups — with the right permissions.</a:t>
            </a:r>
          </a:p>
        </p:txBody>
      </p:sp>
      <p:sp>
        <p:nvSpPr>
          <p:cNvPr id="17" name="Oval 16"/>
          <p:cNvSpPr/>
          <p:nvPr/>
        </p:nvSpPr>
        <p:spPr>
          <a:xfrm>
            <a:off x="5852160" y="3744465"/>
            <a:ext cx="146304" cy="146304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53912" y="3671313"/>
            <a:ext cx="4937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1E293B"/>
                </a:solidFill>
                <a:latin typeface="Segoe UI"/>
              </a:rPr>
              <a:t>Instantly see who belongs where.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892040"/>
            <a:ext cx="10561320" cy="1234440"/>
          </a:xfrm>
          <a:prstGeom prst="roundRect">
            <a:avLst>
              <a:gd name="adj" fmla="val 8000"/>
            </a:avLst>
          </a:prstGeom>
          <a:solidFill>
            <a:srgbClr val="EFF4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22960" y="4892040"/>
            <a:ext cx="63500" cy="123444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43000" y="5074920"/>
            <a:ext cx="201168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6D28D9"/>
                </a:solidFill>
                <a:latin typeface="Segoe UI Semibold"/>
              </a:rPr>
              <a:t>SOLVES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5029200"/>
            <a:ext cx="841248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>
                <a:solidFill>
                  <a:srgbClr val="1E293B"/>
                </a:solidFill>
                <a:latin typeface="Segoe UI"/>
              </a:rPr>
              <a:t>Guesswork about who serves where. Ministry and small-group membership is organized, visible, and controlled.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0" y="6419088"/>
            <a:ext cx="640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A56DB"/>
                </a:solidFill>
                <a:latin typeface="Segoe UI Semibold"/>
              </a:rPr>
              <a:t>THE TRUST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96112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>
                <a:solidFill>
                  <a:srgbClr val="1E293B"/>
                </a:solidFill>
                <a:latin typeface="Segoe UI Semibold"/>
              </a:rPr>
              <a:t>Everyone gets exactly the access their role needs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481328"/>
            <a:ext cx="822960" cy="5080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475569"/>
                </a:solidFill>
                <a:latin typeface="Segoe UI"/>
              </a:rPr>
              <a:t>Access comes from two things: </a:t>
            </a:r>
            <a:r>
              <a:rPr sz="1600" b="1">
                <a:solidFill>
                  <a:srgbClr val="1A56DB"/>
                </a:solidFill>
                <a:latin typeface="Segoe UI Semibold"/>
              </a:rPr>
              <a:t>your role</a:t>
            </a:r>
            <a:r>
              <a:rPr sz="1600" b="0">
                <a:solidFill>
                  <a:srgbClr val="475569"/>
                </a:solidFill>
                <a:latin typeface="Segoe UI"/>
              </a:rPr>
              <a:t>  (Pastor, Church Leader, Head Pastor, SuperAdmin)  and  </a:t>
            </a:r>
            <a:r>
              <a:rPr sz="1600" b="1">
                <a:solidFill>
                  <a:srgbClr val="6D28D9"/>
                </a:solidFill>
                <a:latin typeface="Segoe UI Semibold"/>
              </a:rPr>
              <a:t>your ministry</a:t>
            </a:r>
            <a:r>
              <a:rPr sz="1600" b="0">
                <a:solidFill>
                  <a:srgbClr val="475569"/>
                </a:solidFill>
                <a:latin typeface="Segoe UI"/>
              </a:rPr>
              <a:t>  (Secretariat, Finance, Welcome Team).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88920"/>
            <a:ext cx="5257800" cy="3429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2960" y="2788920"/>
            <a:ext cx="5257800" cy="50292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788920"/>
            <a:ext cx="52578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Segoe UI Semibold"/>
              </a:rPr>
              <a:t>YOUR ROLE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447288"/>
            <a:ext cx="4617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A56DB"/>
                </a:solidFill>
                <a:latin typeface="Segoe UI Semibold"/>
              </a:rPr>
              <a:t>SuperAdmin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721608"/>
            <a:ext cx="4617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475569"/>
                </a:solidFill>
                <a:latin typeface="Segoe UI"/>
              </a:rPr>
              <a:t>Full control across every church.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4137660"/>
            <a:ext cx="4617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A56DB"/>
                </a:solidFill>
                <a:latin typeface="Segoe UI Semibold"/>
              </a:rPr>
              <a:t>Head Pastor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411980"/>
            <a:ext cx="4617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475569"/>
                </a:solidFill>
                <a:latin typeface="Segoe UI"/>
              </a:rPr>
              <a:t>Sees finance, attendance &amp; directory across all churches — view only, no member details.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828032"/>
            <a:ext cx="4617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A56DB"/>
                </a:solidFill>
                <a:latin typeface="Segoe UI Semibold"/>
              </a:rPr>
              <a:t>Pastor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5102352"/>
            <a:ext cx="4617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475569"/>
                </a:solidFill>
                <a:latin typeface="Segoe UI"/>
              </a:rPr>
              <a:t>Views their church; the only one who manages Finance-ministry membership.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518404"/>
            <a:ext cx="4617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A56DB"/>
                </a:solidFill>
                <a:latin typeface="Segoe UI Semibold"/>
              </a:rPr>
              <a:t>Church Leader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5792724"/>
            <a:ext cx="4617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475569"/>
                </a:solidFill>
                <a:latin typeface="Segoe UI"/>
              </a:rPr>
              <a:t>Runs ministries and small groups for their church.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2788920"/>
            <a:ext cx="5257800" cy="3429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00800" y="2788920"/>
            <a:ext cx="5257800" cy="50292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0" y="2788920"/>
            <a:ext cx="52578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Segoe UI Semibold"/>
              </a:rPr>
              <a:t>YOUR MINISTRY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3447288"/>
            <a:ext cx="4617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6D28D9"/>
                </a:solidFill>
                <a:latin typeface="Segoe UI Semibold"/>
              </a:rPr>
              <a:t>Secretariat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3721608"/>
            <a:ext cx="4617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475569"/>
                </a:solidFill>
                <a:latin typeface="Segoe UI"/>
              </a:rPr>
              <a:t>View full member details; add, update, and archive members.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4137660"/>
            <a:ext cx="4617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6D28D9"/>
                </a:solidFill>
                <a:latin typeface="Segoe UI Semibold"/>
              </a:rPr>
              <a:t>Finance Team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4411980"/>
            <a:ext cx="4617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475569"/>
                </a:solidFill>
                <a:latin typeface="Segoe UI"/>
              </a:rPr>
              <a:t>All finance operations — giving and expenses.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0840" y="4828032"/>
            <a:ext cx="4617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6D28D9"/>
                </a:solidFill>
                <a:latin typeface="Segoe UI Semibold"/>
              </a:rPr>
              <a:t>Welcome Team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5102352"/>
            <a:ext cx="4617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475569"/>
                </a:solidFill>
                <a:latin typeface="Segoe UI"/>
              </a:rPr>
              <a:t>Runs the attendance system and check-in.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5518404"/>
            <a:ext cx="4617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6D28D9"/>
                </a:solidFill>
                <a:latin typeface="Segoe UI Semibold"/>
              </a:rPr>
              <a:t>Everyone else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0840" y="5792724"/>
            <a:ext cx="4617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475569"/>
                </a:solidFill>
                <a:latin typeface="Segoe UI"/>
              </a:rPr>
              <a:t>Sees names and groups only — no private details, finances, or attendance.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0" y="6419088"/>
            <a:ext cx="640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A56DB"/>
                </a:solidFill>
                <a:latin typeface="Segoe UI Semibold"/>
              </a:rPr>
              <a:t>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96112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>
                <a:solidFill>
                  <a:srgbClr val="1E293B"/>
                </a:solidFill>
                <a:latin typeface="Segoe UI Semibold"/>
              </a:rPr>
              <a:t>Who can do what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481328"/>
            <a:ext cx="822960" cy="5080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3977639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64748B"/>
                </a:solidFill>
                <a:latin typeface="Segoe UI Semibold"/>
              </a:rPr>
              <a:t>Capability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00599" y="1783080"/>
            <a:ext cx="1042415" cy="86868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E293B"/>
                </a:solidFill>
                <a:latin typeface="Segoe UI Semibold"/>
              </a:rPr>
              <a:t>SuperAdmin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43014" y="1783080"/>
            <a:ext cx="1042415" cy="86868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E293B"/>
                </a:solidFill>
                <a:latin typeface="Segoe UI Semibold"/>
              </a:rPr>
              <a:t>Head Pastor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85429" y="1783080"/>
            <a:ext cx="1042415" cy="86868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E293B"/>
                </a:solidFill>
                <a:latin typeface="Segoe UI Semibold"/>
              </a:rPr>
              <a:t>Pastor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27844" y="1783080"/>
            <a:ext cx="1042415" cy="86868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E293B"/>
                </a:solidFill>
                <a:latin typeface="Segoe UI Semibold"/>
              </a:rPr>
              <a:t>Church Leader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70259" y="1783080"/>
            <a:ext cx="1042415" cy="86868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E293B"/>
                </a:solidFill>
                <a:latin typeface="Segoe UI Semibold"/>
              </a:rPr>
              <a:t>Secretariat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12674" y="1783080"/>
            <a:ext cx="1042415" cy="86868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E293B"/>
                </a:solidFill>
                <a:latin typeface="Segoe UI Semibold"/>
              </a:rPr>
              <a:t>Finance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55089" y="1783080"/>
            <a:ext cx="1042415" cy="86868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E293B"/>
                </a:solidFill>
                <a:latin typeface="Segoe UI Semibold"/>
              </a:rPr>
              <a:t>Welcome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2651760"/>
            <a:ext cx="11274544" cy="2540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2960" y="2724912"/>
            <a:ext cx="11274544" cy="49834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2724912"/>
            <a:ext cx="3886199" cy="4983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E293B"/>
                </a:solidFill>
                <a:latin typeface="Segoe UI"/>
              </a:rPr>
              <a:t>See member list &amp; search</a:t>
            </a:r>
          </a:p>
        </p:txBody>
      </p:sp>
      <p:sp>
        <p:nvSpPr>
          <p:cNvPr id="17" name="Oval 16"/>
          <p:cNvSpPr/>
          <p:nvPr/>
        </p:nvSpPr>
        <p:spPr>
          <a:xfrm>
            <a:off x="5202934" y="2855214"/>
            <a:ext cx="237744" cy="237744"/>
          </a:xfrm>
          <a:prstGeom prst="ellipse">
            <a:avLst/>
          </a:prstGeom>
          <a:solidFill>
            <a:srgbClr val="0F9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02934" y="2855214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 Semibold"/>
              </a:rPr>
              <a:t>✓</a:t>
            </a:r>
          </a:p>
        </p:txBody>
      </p:sp>
      <p:sp>
        <p:nvSpPr>
          <p:cNvPr id="19" name="Oval 18"/>
          <p:cNvSpPr/>
          <p:nvPr/>
        </p:nvSpPr>
        <p:spPr>
          <a:xfrm>
            <a:off x="6245349" y="2855214"/>
            <a:ext cx="237744" cy="237744"/>
          </a:xfrm>
          <a:prstGeom prst="ellipse">
            <a:avLst/>
          </a:prstGeom>
          <a:solidFill>
            <a:srgbClr val="0F9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45349" y="2855214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 Semibold"/>
              </a:rPr>
              <a:t>✓</a:t>
            </a:r>
          </a:p>
        </p:txBody>
      </p:sp>
      <p:sp>
        <p:nvSpPr>
          <p:cNvPr id="21" name="Oval 20"/>
          <p:cNvSpPr/>
          <p:nvPr/>
        </p:nvSpPr>
        <p:spPr>
          <a:xfrm>
            <a:off x="7287764" y="2855214"/>
            <a:ext cx="237744" cy="237744"/>
          </a:xfrm>
          <a:prstGeom prst="ellipse">
            <a:avLst/>
          </a:prstGeom>
          <a:solidFill>
            <a:srgbClr val="0F9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287764" y="2855214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 Semibold"/>
              </a:rPr>
              <a:t>✓</a:t>
            </a:r>
          </a:p>
        </p:txBody>
      </p:sp>
      <p:sp>
        <p:nvSpPr>
          <p:cNvPr id="23" name="Oval 22"/>
          <p:cNvSpPr/>
          <p:nvPr/>
        </p:nvSpPr>
        <p:spPr>
          <a:xfrm>
            <a:off x="8330179" y="2855214"/>
            <a:ext cx="237744" cy="237744"/>
          </a:xfrm>
          <a:prstGeom prst="ellipse">
            <a:avLst/>
          </a:prstGeom>
          <a:solidFill>
            <a:srgbClr val="0F9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30179" y="2855214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 Semibold"/>
              </a:rPr>
              <a:t>✓</a:t>
            </a:r>
          </a:p>
        </p:txBody>
      </p:sp>
      <p:sp>
        <p:nvSpPr>
          <p:cNvPr id="25" name="Oval 24"/>
          <p:cNvSpPr/>
          <p:nvPr/>
        </p:nvSpPr>
        <p:spPr>
          <a:xfrm>
            <a:off x="9372594" y="2855214"/>
            <a:ext cx="237744" cy="237744"/>
          </a:xfrm>
          <a:prstGeom prst="ellipse">
            <a:avLst/>
          </a:prstGeom>
          <a:solidFill>
            <a:srgbClr val="0F9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372594" y="2855214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 Semibold"/>
              </a:rPr>
              <a:t>✓</a:t>
            </a:r>
          </a:p>
        </p:txBody>
      </p:sp>
      <p:sp>
        <p:nvSpPr>
          <p:cNvPr id="27" name="Oval 26"/>
          <p:cNvSpPr/>
          <p:nvPr/>
        </p:nvSpPr>
        <p:spPr>
          <a:xfrm>
            <a:off x="10415009" y="2855214"/>
            <a:ext cx="237744" cy="237744"/>
          </a:xfrm>
          <a:prstGeom prst="ellipse">
            <a:avLst/>
          </a:prstGeom>
          <a:solidFill>
            <a:srgbClr val="0F9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415009" y="2855214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 Semibold"/>
              </a:rPr>
              <a:t>✓</a:t>
            </a:r>
          </a:p>
        </p:txBody>
      </p:sp>
      <p:sp>
        <p:nvSpPr>
          <p:cNvPr id="29" name="Oval 28"/>
          <p:cNvSpPr/>
          <p:nvPr/>
        </p:nvSpPr>
        <p:spPr>
          <a:xfrm>
            <a:off x="11457424" y="2855214"/>
            <a:ext cx="237744" cy="237744"/>
          </a:xfrm>
          <a:prstGeom prst="ellipse">
            <a:avLst/>
          </a:prstGeom>
          <a:solidFill>
            <a:srgbClr val="0F9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1457424" y="2855214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 Semibold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3223260"/>
            <a:ext cx="3886199" cy="4983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E293B"/>
                </a:solidFill>
                <a:latin typeface="Segoe UI"/>
              </a:rPr>
              <a:t>Open full member details</a:t>
            </a:r>
          </a:p>
        </p:txBody>
      </p:sp>
      <p:sp>
        <p:nvSpPr>
          <p:cNvPr id="32" name="Oval 31"/>
          <p:cNvSpPr/>
          <p:nvPr/>
        </p:nvSpPr>
        <p:spPr>
          <a:xfrm>
            <a:off x="5202934" y="3353562"/>
            <a:ext cx="237744" cy="237744"/>
          </a:xfrm>
          <a:prstGeom prst="ellipse">
            <a:avLst/>
          </a:prstGeom>
          <a:solidFill>
            <a:srgbClr val="0F9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202934" y="3353562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 Semibold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43014" y="3223260"/>
            <a:ext cx="1042415" cy="4983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CBD5E1"/>
                </a:solidFill>
                <a:latin typeface="Segoe UI"/>
              </a:rPr>
              <a:t>–</a:t>
            </a:r>
          </a:p>
        </p:txBody>
      </p:sp>
      <p:sp>
        <p:nvSpPr>
          <p:cNvPr id="35" name="Oval 34"/>
          <p:cNvSpPr/>
          <p:nvPr/>
        </p:nvSpPr>
        <p:spPr>
          <a:xfrm>
            <a:off x="7287764" y="3353562"/>
            <a:ext cx="237744" cy="237744"/>
          </a:xfrm>
          <a:prstGeom prst="ellipse">
            <a:avLst/>
          </a:prstGeom>
          <a:solidFill>
            <a:srgbClr val="0F9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287764" y="3353562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 Semibold"/>
              </a:rPr>
              <a:t>✓</a:t>
            </a:r>
          </a:p>
        </p:txBody>
      </p:sp>
      <p:sp>
        <p:nvSpPr>
          <p:cNvPr id="37" name="Oval 36"/>
          <p:cNvSpPr/>
          <p:nvPr/>
        </p:nvSpPr>
        <p:spPr>
          <a:xfrm>
            <a:off x="8330179" y="3353562"/>
            <a:ext cx="237744" cy="237744"/>
          </a:xfrm>
          <a:prstGeom prst="ellipse">
            <a:avLst/>
          </a:prstGeom>
          <a:solidFill>
            <a:srgbClr val="0F9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330179" y="3353562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 Semibold"/>
              </a:rPr>
              <a:t>✓</a:t>
            </a:r>
          </a:p>
        </p:txBody>
      </p:sp>
      <p:sp>
        <p:nvSpPr>
          <p:cNvPr id="39" name="Oval 38"/>
          <p:cNvSpPr/>
          <p:nvPr/>
        </p:nvSpPr>
        <p:spPr>
          <a:xfrm>
            <a:off x="9372594" y="3353562"/>
            <a:ext cx="237744" cy="237744"/>
          </a:xfrm>
          <a:prstGeom prst="ellipse">
            <a:avLst/>
          </a:prstGeom>
          <a:solidFill>
            <a:srgbClr val="0F9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372594" y="3353562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 Semibold"/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12674" y="3223260"/>
            <a:ext cx="1042415" cy="4983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CBD5E1"/>
                </a:solidFill>
                <a:latin typeface="Segoe UI"/>
              </a:rPr>
              <a:t>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055089" y="3223260"/>
            <a:ext cx="1042415" cy="4983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CBD5E1"/>
                </a:solidFill>
                <a:latin typeface="Segoe UI"/>
              </a:rPr>
              <a:t>–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2960" y="3721608"/>
            <a:ext cx="11274544" cy="49834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14400" y="3721608"/>
            <a:ext cx="3886199" cy="4983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E293B"/>
                </a:solidFill>
                <a:latin typeface="Segoe UI"/>
              </a:rPr>
              <a:t>Add / edit / archive members</a:t>
            </a:r>
          </a:p>
        </p:txBody>
      </p:sp>
      <p:sp>
        <p:nvSpPr>
          <p:cNvPr id="45" name="Oval 44"/>
          <p:cNvSpPr/>
          <p:nvPr/>
        </p:nvSpPr>
        <p:spPr>
          <a:xfrm>
            <a:off x="5202934" y="3851910"/>
            <a:ext cx="237744" cy="237744"/>
          </a:xfrm>
          <a:prstGeom prst="ellipse">
            <a:avLst/>
          </a:prstGeom>
          <a:solidFill>
            <a:srgbClr val="0F9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202934" y="3851910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 Semibold"/>
              </a:rPr>
              <a:t>✓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43014" y="3721608"/>
            <a:ext cx="1042415" cy="4983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CBD5E1"/>
                </a:solidFill>
                <a:latin typeface="Segoe UI"/>
              </a:rPr>
              <a:t>–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85429" y="3721608"/>
            <a:ext cx="1042415" cy="4983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CBD5E1"/>
                </a:solidFill>
                <a:latin typeface="Segoe UI"/>
              </a:rPr>
              <a:t>–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927844" y="3721608"/>
            <a:ext cx="1042415" cy="4983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CBD5E1"/>
                </a:solidFill>
                <a:latin typeface="Segoe UI"/>
              </a:rPr>
              <a:t>–</a:t>
            </a:r>
          </a:p>
        </p:txBody>
      </p:sp>
      <p:sp>
        <p:nvSpPr>
          <p:cNvPr id="50" name="Oval 49"/>
          <p:cNvSpPr/>
          <p:nvPr/>
        </p:nvSpPr>
        <p:spPr>
          <a:xfrm>
            <a:off x="9372594" y="3851910"/>
            <a:ext cx="237744" cy="237744"/>
          </a:xfrm>
          <a:prstGeom prst="ellipse">
            <a:avLst/>
          </a:prstGeom>
          <a:solidFill>
            <a:srgbClr val="0F9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372594" y="3851910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 Semibold"/>
              </a:rPr>
              <a:t>✓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012674" y="3721608"/>
            <a:ext cx="1042415" cy="4983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CBD5E1"/>
                </a:solidFill>
                <a:latin typeface="Segoe UI"/>
              </a:rPr>
              <a:t>–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055089" y="3721608"/>
            <a:ext cx="1042415" cy="4983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CBD5E1"/>
                </a:solidFill>
                <a:latin typeface="Segoe UI"/>
              </a:rPr>
              <a:t>–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4400" y="4219956"/>
            <a:ext cx="3886199" cy="4983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E293B"/>
                </a:solidFill>
                <a:latin typeface="Segoe UI"/>
              </a:rPr>
              <a:t>View church finances</a:t>
            </a:r>
          </a:p>
        </p:txBody>
      </p:sp>
      <p:sp>
        <p:nvSpPr>
          <p:cNvPr id="55" name="Oval 54"/>
          <p:cNvSpPr/>
          <p:nvPr/>
        </p:nvSpPr>
        <p:spPr>
          <a:xfrm>
            <a:off x="5202934" y="4350258"/>
            <a:ext cx="237744" cy="237744"/>
          </a:xfrm>
          <a:prstGeom prst="ellipse">
            <a:avLst/>
          </a:prstGeom>
          <a:solidFill>
            <a:srgbClr val="0F9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202934" y="4350258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 Semibold"/>
              </a:rPr>
              <a:t>✓</a:t>
            </a:r>
          </a:p>
        </p:txBody>
      </p:sp>
      <p:sp>
        <p:nvSpPr>
          <p:cNvPr id="57" name="Oval 56"/>
          <p:cNvSpPr/>
          <p:nvPr/>
        </p:nvSpPr>
        <p:spPr>
          <a:xfrm>
            <a:off x="6245349" y="4350258"/>
            <a:ext cx="237744" cy="237744"/>
          </a:xfrm>
          <a:prstGeom prst="ellipse">
            <a:avLst/>
          </a:prstGeom>
          <a:solidFill>
            <a:srgbClr val="0F9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245349" y="4350258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 Semibold"/>
              </a:rPr>
              <a:t>✓</a:t>
            </a:r>
          </a:p>
        </p:txBody>
      </p:sp>
      <p:sp>
        <p:nvSpPr>
          <p:cNvPr id="59" name="Oval 58"/>
          <p:cNvSpPr/>
          <p:nvPr/>
        </p:nvSpPr>
        <p:spPr>
          <a:xfrm>
            <a:off x="7287764" y="4350258"/>
            <a:ext cx="237744" cy="237744"/>
          </a:xfrm>
          <a:prstGeom prst="ellipse">
            <a:avLst/>
          </a:prstGeom>
          <a:solidFill>
            <a:srgbClr val="0F9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7287764" y="4350258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 Semibold"/>
              </a:rPr>
              <a:t>✓</a:t>
            </a:r>
          </a:p>
        </p:txBody>
      </p:sp>
      <p:sp>
        <p:nvSpPr>
          <p:cNvPr id="61" name="Oval 60"/>
          <p:cNvSpPr/>
          <p:nvPr/>
        </p:nvSpPr>
        <p:spPr>
          <a:xfrm>
            <a:off x="8330179" y="4350258"/>
            <a:ext cx="237744" cy="237744"/>
          </a:xfrm>
          <a:prstGeom prst="ellipse">
            <a:avLst/>
          </a:prstGeom>
          <a:solidFill>
            <a:srgbClr val="0F9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330179" y="4350258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 Semibold"/>
              </a:rPr>
              <a:t>✓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970259" y="4219956"/>
            <a:ext cx="1042415" cy="4983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CBD5E1"/>
                </a:solidFill>
                <a:latin typeface="Segoe UI"/>
              </a:rPr>
              <a:t>–</a:t>
            </a:r>
          </a:p>
        </p:txBody>
      </p:sp>
      <p:sp>
        <p:nvSpPr>
          <p:cNvPr id="64" name="Oval 63"/>
          <p:cNvSpPr/>
          <p:nvPr/>
        </p:nvSpPr>
        <p:spPr>
          <a:xfrm>
            <a:off x="10415009" y="4350258"/>
            <a:ext cx="237744" cy="237744"/>
          </a:xfrm>
          <a:prstGeom prst="ellipse">
            <a:avLst/>
          </a:prstGeom>
          <a:solidFill>
            <a:srgbClr val="0F9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10415009" y="4350258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 Semibold"/>
              </a:rPr>
              <a:t>✓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055089" y="4219956"/>
            <a:ext cx="1042415" cy="4983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CBD5E1"/>
                </a:solidFill>
                <a:latin typeface="Segoe UI"/>
              </a:rPr>
              <a:t>–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22960" y="4718304"/>
            <a:ext cx="11274544" cy="49834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4400" y="4718304"/>
            <a:ext cx="3886199" cy="4983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E293B"/>
                </a:solidFill>
                <a:latin typeface="Segoe UI"/>
              </a:rPr>
              <a:t>Record giving &amp; expenses</a:t>
            </a:r>
          </a:p>
        </p:txBody>
      </p:sp>
      <p:sp>
        <p:nvSpPr>
          <p:cNvPr id="69" name="Oval 68"/>
          <p:cNvSpPr/>
          <p:nvPr/>
        </p:nvSpPr>
        <p:spPr>
          <a:xfrm>
            <a:off x="5202934" y="4848606"/>
            <a:ext cx="237744" cy="237744"/>
          </a:xfrm>
          <a:prstGeom prst="ellipse">
            <a:avLst/>
          </a:prstGeom>
          <a:solidFill>
            <a:srgbClr val="0F9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5202934" y="4848606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 Semibold"/>
              </a:rPr>
              <a:t>✓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843014" y="4718304"/>
            <a:ext cx="1042415" cy="4983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CBD5E1"/>
                </a:solidFill>
                <a:latin typeface="Segoe UI"/>
              </a:rPr>
              <a:t>–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885429" y="4718304"/>
            <a:ext cx="1042415" cy="4983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CBD5E1"/>
                </a:solidFill>
                <a:latin typeface="Segoe UI"/>
              </a:rPr>
              <a:t>–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927844" y="4718304"/>
            <a:ext cx="1042415" cy="4983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CBD5E1"/>
                </a:solidFill>
                <a:latin typeface="Segoe UI"/>
              </a:rPr>
              <a:t>–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970259" y="4718304"/>
            <a:ext cx="1042415" cy="4983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CBD5E1"/>
                </a:solidFill>
                <a:latin typeface="Segoe UI"/>
              </a:rPr>
              <a:t>–</a:t>
            </a:r>
          </a:p>
        </p:txBody>
      </p:sp>
      <p:sp>
        <p:nvSpPr>
          <p:cNvPr id="75" name="Oval 74"/>
          <p:cNvSpPr/>
          <p:nvPr/>
        </p:nvSpPr>
        <p:spPr>
          <a:xfrm>
            <a:off x="10415009" y="4848606"/>
            <a:ext cx="237744" cy="237744"/>
          </a:xfrm>
          <a:prstGeom prst="ellipse">
            <a:avLst/>
          </a:prstGeom>
          <a:solidFill>
            <a:srgbClr val="0F9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10415009" y="4848606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 Semibold"/>
              </a:rPr>
              <a:t>✓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055089" y="4718304"/>
            <a:ext cx="1042415" cy="4983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CBD5E1"/>
                </a:solidFill>
                <a:latin typeface="Segoe UI"/>
              </a:rPr>
              <a:t>–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14400" y="5216652"/>
            <a:ext cx="3886199" cy="4983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E293B"/>
                </a:solidFill>
                <a:latin typeface="Segoe UI"/>
              </a:rPr>
              <a:t>Manage attendance</a:t>
            </a:r>
          </a:p>
        </p:txBody>
      </p:sp>
      <p:sp>
        <p:nvSpPr>
          <p:cNvPr id="79" name="Oval 78"/>
          <p:cNvSpPr/>
          <p:nvPr/>
        </p:nvSpPr>
        <p:spPr>
          <a:xfrm>
            <a:off x="5202934" y="5346954"/>
            <a:ext cx="237744" cy="237744"/>
          </a:xfrm>
          <a:prstGeom prst="ellipse">
            <a:avLst/>
          </a:prstGeom>
          <a:solidFill>
            <a:srgbClr val="0F9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5202934" y="5346954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 Semibold"/>
              </a:rPr>
              <a:t>✓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843014" y="5216652"/>
            <a:ext cx="1042415" cy="4983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CBD5E1"/>
                </a:solidFill>
                <a:latin typeface="Segoe UI"/>
              </a:rPr>
              <a:t>–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885429" y="5216652"/>
            <a:ext cx="1042415" cy="4983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CBD5E1"/>
                </a:solidFill>
                <a:latin typeface="Segoe UI"/>
              </a:rPr>
              <a:t>–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927844" y="5216652"/>
            <a:ext cx="1042415" cy="4983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CBD5E1"/>
                </a:solidFill>
                <a:latin typeface="Segoe UI"/>
              </a:rPr>
              <a:t>–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970259" y="5216652"/>
            <a:ext cx="1042415" cy="4983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CBD5E1"/>
                </a:solidFill>
                <a:latin typeface="Segoe UI"/>
              </a:rPr>
              <a:t>–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012674" y="5216652"/>
            <a:ext cx="1042415" cy="4983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CBD5E1"/>
                </a:solidFill>
                <a:latin typeface="Segoe UI"/>
              </a:rPr>
              <a:t>–</a:t>
            </a:r>
          </a:p>
        </p:txBody>
      </p:sp>
      <p:sp>
        <p:nvSpPr>
          <p:cNvPr id="86" name="Oval 85"/>
          <p:cNvSpPr/>
          <p:nvPr/>
        </p:nvSpPr>
        <p:spPr>
          <a:xfrm>
            <a:off x="11457424" y="5346954"/>
            <a:ext cx="237744" cy="237744"/>
          </a:xfrm>
          <a:prstGeom prst="ellipse">
            <a:avLst/>
          </a:prstGeom>
          <a:solidFill>
            <a:srgbClr val="0F9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11457424" y="5346954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 Semibold"/>
              </a:rPr>
              <a:t>✓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22960" y="5715000"/>
            <a:ext cx="11274544" cy="49834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914400" y="5715000"/>
            <a:ext cx="3886199" cy="4983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E293B"/>
                </a:solidFill>
                <a:latin typeface="Segoe UI"/>
              </a:rPr>
              <a:t>Manage small groups</a:t>
            </a:r>
          </a:p>
        </p:txBody>
      </p:sp>
      <p:sp>
        <p:nvSpPr>
          <p:cNvPr id="90" name="Oval 89"/>
          <p:cNvSpPr/>
          <p:nvPr/>
        </p:nvSpPr>
        <p:spPr>
          <a:xfrm>
            <a:off x="5202934" y="5845302"/>
            <a:ext cx="237744" cy="237744"/>
          </a:xfrm>
          <a:prstGeom prst="ellipse">
            <a:avLst/>
          </a:prstGeom>
          <a:solidFill>
            <a:srgbClr val="0F9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5202934" y="5845302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 Semibold"/>
              </a:rPr>
              <a:t>✓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843014" y="5715000"/>
            <a:ext cx="1042415" cy="4983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CBD5E1"/>
                </a:solidFill>
                <a:latin typeface="Segoe UI"/>
              </a:rPr>
              <a:t>–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885429" y="5715000"/>
            <a:ext cx="1042415" cy="4983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CBD5E1"/>
                </a:solidFill>
                <a:latin typeface="Segoe UI"/>
              </a:rPr>
              <a:t>–</a:t>
            </a:r>
          </a:p>
        </p:txBody>
      </p:sp>
      <p:sp>
        <p:nvSpPr>
          <p:cNvPr id="94" name="Oval 93"/>
          <p:cNvSpPr/>
          <p:nvPr/>
        </p:nvSpPr>
        <p:spPr>
          <a:xfrm>
            <a:off x="8330179" y="5845302"/>
            <a:ext cx="237744" cy="237744"/>
          </a:xfrm>
          <a:prstGeom prst="ellipse">
            <a:avLst/>
          </a:prstGeom>
          <a:solidFill>
            <a:srgbClr val="0F9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8330179" y="5845302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 Semibold"/>
              </a:rPr>
              <a:t>✓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970259" y="5715000"/>
            <a:ext cx="1042415" cy="4983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CBD5E1"/>
                </a:solidFill>
                <a:latin typeface="Segoe UI"/>
              </a:rPr>
              <a:t>–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012674" y="5715000"/>
            <a:ext cx="1042415" cy="4983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CBD5E1"/>
                </a:solidFill>
                <a:latin typeface="Segoe UI"/>
              </a:rPr>
              <a:t>–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1055089" y="5715000"/>
            <a:ext cx="1042415" cy="4983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CBD5E1"/>
                </a:solidFill>
                <a:latin typeface="Segoe UI"/>
              </a:rPr>
              <a:t>–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14400" y="6213348"/>
            <a:ext cx="3886199" cy="4983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E293B"/>
                </a:solidFill>
                <a:latin typeface="Segoe UI"/>
              </a:rPr>
              <a:t>Works across all churches</a:t>
            </a:r>
          </a:p>
        </p:txBody>
      </p:sp>
      <p:sp>
        <p:nvSpPr>
          <p:cNvPr id="100" name="Oval 99"/>
          <p:cNvSpPr/>
          <p:nvPr/>
        </p:nvSpPr>
        <p:spPr>
          <a:xfrm>
            <a:off x="5202934" y="6343650"/>
            <a:ext cx="237744" cy="237744"/>
          </a:xfrm>
          <a:prstGeom prst="ellipse">
            <a:avLst/>
          </a:prstGeom>
          <a:solidFill>
            <a:srgbClr val="0F9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5202934" y="6343650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 Semibold"/>
              </a:rPr>
              <a:t>✓</a:t>
            </a:r>
          </a:p>
        </p:txBody>
      </p:sp>
      <p:sp>
        <p:nvSpPr>
          <p:cNvPr id="102" name="Oval 101"/>
          <p:cNvSpPr/>
          <p:nvPr/>
        </p:nvSpPr>
        <p:spPr>
          <a:xfrm>
            <a:off x="6245349" y="6343650"/>
            <a:ext cx="237744" cy="237744"/>
          </a:xfrm>
          <a:prstGeom prst="ellipse">
            <a:avLst/>
          </a:prstGeom>
          <a:solidFill>
            <a:srgbClr val="0F9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6245349" y="6343650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 Semibold"/>
              </a:rPr>
              <a:t>✓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885429" y="6213348"/>
            <a:ext cx="1042415" cy="4983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CBD5E1"/>
                </a:solidFill>
                <a:latin typeface="Segoe UI"/>
              </a:rPr>
              <a:t>–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927844" y="6213348"/>
            <a:ext cx="1042415" cy="4983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CBD5E1"/>
                </a:solidFill>
                <a:latin typeface="Segoe UI"/>
              </a:rPr>
              <a:t>–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970259" y="6213348"/>
            <a:ext cx="1042415" cy="4983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CBD5E1"/>
                </a:solidFill>
                <a:latin typeface="Segoe UI"/>
              </a:rPr>
              <a:t>–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0012674" y="6213348"/>
            <a:ext cx="1042415" cy="4983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CBD5E1"/>
                </a:solidFill>
                <a:latin typeface="Segoe UI"/>
              </a:rPr>
              <a:t>–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1055089" y="6213348"/>
            <a:ext cx="1042415" cy="4983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CBD5E1"/>
                </a:solidFill>
                <a:latin typeface="Segoe UI"/>
              </a:rPr>
              <a:t>–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1430000" y="6419088"/>
            <a:ext cx="640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A56DB"/>
                </a:solidFill>
                <a:latin typeface="Segoe UI Semibold"/>
              </a:rPr>
              <a:t>BUILT FOR MORE THAN ONE CONGREGATION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96112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>
                <a:solidFill>
                  <a:srgbClr val="1E293B"/>
                </a:solidFill>
                <a:latin typeface="Segoe UI Semibold"/>
              </a:rPr>
              <a:t>Every church, kept separate — and a view across them all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481328"/>
            <a:ext cx="822960" cy="5080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557784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475569"/>
                </a:solidFill>
                <a:latin typeface="Segoe UI"/>
              </a:rPr>
              <a:t>Each church's members, giving, attendance, and groups are </a:t>
            </a:r>
            <a:r>
              <a:rPr sz="1500" b="1">
                <a:solidFill>
                  <a:srgbClr val="1E293B"/>
                </a:solidFill>
                <a:latin typeface="Segoe UI Semibold"/>
              </a:rPr>
              <a:t>walled off from every other church.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endParaRPr sz="1500" b="1">
              <a:solidFill>
                <a:srgbClr val="1E293B"/>
              </a:solidFill>
              <a:latin typeface="Segoe UI Semibold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475569"/>
                </a:solidFill>
                <a:latin typeface="Segoe UI"/>
              </a:rPr>
              <a:t>A Pastor or Church Leader only ever sees their own congregation — automatically, with nothing to configure.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endParaRPr sz="1500" b="0">
              <a:solidFill>
                <a:srgbClr val="475569"/>
              </a:solidFill>
              <a:latin typeface="Segoe UI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475569"/>
                </a:solidFill>
                <a:latin typeface="Segoe UI"/>
              </a:rPr>
              <a:t>Leadership that oversees everything (Head Pastor, SuperAdmin) gets a </a:t>
            </a:r>
            <a:r>
              <a:rPr sz="1500" b="1">
                <a:solidFill>
                  <a:srgbClr val="1A56DB"/>
                </a:solidFill>
                <a:latin typeface="Segoe UI Semibold"/>
              </a:rPr>
              <a:t>church selector</a:t>
            </a:r>
            <a:r>
              <a:rPr sz="1500" b="0">
                <a:solidFill>
                  <a:srgbClr val="475569"/>
                </a:solidFill>
                <a:latin typeface="Segoe UI"/>
              </a:rPr>
              <a:t> to switch between congregations, one at a time — no more totals combined by hand.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20840" y="1874519"/>
            <a:ext cx="219456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F9D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720840" y="2011679"/>
            <a:ext cx="50800" cy="594360"/>
          </a:xfrm>
          <a:prstGeom prst="rect">
            <a:avLst/>
          </a:prstGeom>
          <a:solidFill>
            <a:srgbClr val="0F9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95160" y="1874519"/>
            <a:ext cx="173736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1E293B"/>
                </a:solidFill>
                <a:latin typeface="Segoe UI Semibold"/>
              </a:rPr>
              <a:t>Graceville Church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64748B"/>
                </a:solidFill>
                <a:latin typeface="Segoe UI"/>
              </a:rPr>
              <a:t>members · funds · attendance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2898647"/>
            <a:ext cx="219456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720840" y="3035807"/>
            <a:ext cx="50800" cy="59436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995160" y="2898647"/>
            <a:ext cx="173736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1E293B"/>
                </a:solidFill>
                <a:latin typeface="Segoe UI Semibold"/>
              </a:rPr>
              <a:t>Tala Church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64748B"/>
                </a:solidFill>
                <a:latin typeface="Segoe UI"/>
              </a:rPr>
              <a:t>members · funds · attendance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20840" y="3922775"/>
            <a:ext cx="219456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720840" y="4059935"/>
            <a:ext cx="50800" cy="59436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995160" y="3922775"/>
            <a:ext cx="173736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1E293B"/>
                </a:solidFill>
                <a:latin typeface="Segoe UI Semibold"/>
              </a:rPr>
              <a:t>Cogon Church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64748B"/>
                </a:solidFill>
                <a:latin typeface="Segoe UI"/>
              </a:rPr>
              <a:t>members · funds · attendance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81160" y="2331720"/>
            <a:ext cx="2103120" cy="1920240"/>
          </a:xfrm>
          <a:prstGeom prst="roundRect">
            <a:avLst>
              <a:gd name="adj" fmla="val 10000"/>
            </a:avLst>
          </a:prstGeom>
          <a:solidFill>
            <a:srgbClr val="123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012680" y="256032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2C5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12680" y="256032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Segoe UI Semibold"/>
              </a:rPr>
              <a:t>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1160" y="3246120"/>
            <a:ext cx="21031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Segoe UI Semibold"/>
              </a:rPr>
              <a:t>Leadership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B9CCF2"/>
                </a:solidFill>
                <a:latin typeface="Segoe UI"/>
              </a:rPr>
              <a:t>cross-church view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915400" y="2304287"/>
            <a:ext cx="365760" cy="987553"/>
          </a:xfrm>
          <a:prstGeom prst="bentConnector3">
            <a:avLst/>
          </a:prstGeom>
          <a:ln w="190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8915400" y="3291840"/>
            <a:ext cx="365760" cy="36575"/>
          </a:xfrm>
          <a:prstGeom prst="bentConnector3">
            <a:avLst/>
          </a:prstGeom>
          <a:ln w="190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8915400" y="3291840"/>
            <a:ext cx="365760" cy="1060703"/>
          </a:xfrm>
          <a:prstGeom prst="bentConnector3">
            <a:avLst/>
          </a:prstGeom>
          <a:ln w="190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1430000" y="6419088"/>
            <a:ext cx="640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F9D58"/>
                </a:solidFill>
                <a:latin typeface="Segoe UI Semibold"/>
              </a:rPr>
              <a:t>SECURITY &amp; PRIVACY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96112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>
                <a:solidFill>
                  <a:srgbClr val="1E293B"/>
                </a:solidFill>
                <a:latin typeface="Segoe UI Semibold"/>
              </a:rPr>
              <a:t>Member privacy is protected at the deepest level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481328"/>
            <a:ext cx="822960" cy="5080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41248" y="1481328"/>
            <a:ext cx="822960" cy="50800"/>
          </a:xfrm>
          <a:prstGeom prst="rect">
            <a:avLst/>
          </a:prstGeom>
          <a:solidFill>
            <a:srgbClr val="0F9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2960" y="1874519"/>
            <a:ext cx="10561320" cy="1042415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97280" y="2121407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0F9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2121407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Segoe UI Semibold"/>
              </a:rPr>
              <a:t>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020823"/>
            <a:ext cx="92354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E293B"/>
                </a:solidFill>
                <a:latin typeface="Segoe UI Semibold"/>
              </a:rPr>
              <a:t>Rules live in the database, not just the screen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2404871"/>
            <a:ext cx="9235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475569"/>
                </a:solidFill>
                <a:latin typeface="Segoe UI"/>
              </a:rPr>
              <a:t>Access is enforced where the data is stored. Even if someone tampered with the app, the database still refuses to hand over what they're not allowed to see.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044951"/>
            <a:ext cx="10561320" cy="1042415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97280" y="3291839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0F9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97280" y="3291839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Segoe UI Semibold"/>
              </a:rPr>
              <a:t>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3191255"/>
            <a:ext cx="92354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E293B"/>
                </a:solidFill>
                <a:latin typeface="Segoe UI Semibold"/>
              </a:rPr>
              <a:t>Private details stay private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3575303"/>
            <a:ext cx="9235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475569"/>
                </a:solidFill>
                <a:latin typeface="Segoe UI"/>
              </a:rPr>
              <a:t>Names and group membership are visible to staff; birthdates, addresses, and contact details open only for roles that genuinely need them.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215383"/>
            <a:ext cx="10561320" cy="1042415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97280" y="4462271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0F9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97280" y="4462271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Segoe UI Semibold"/>
              </a:rPr>
              <a:t>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4361687"/>
            <a:ext cx="92354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E293B"/>
                </a:solidFill>
                <a:latin typeface="Segoe UI Semibold"/>
              </a:rPr>
              <a:t>Safe by default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4745735"/>
            <a:ext cx="9235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475569"/>
                </a:solidFill>
                <a:latin typeface="Segoe UI"/>
              </a:rPr>
              <a:t>A brand-new or unassigned user starts with the least access. Permission is granted deliberately, never assumed.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5385815"/>
            <a:ext cx="10561320" cy="1042415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097280" y="5632703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0F9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97280" y="5632703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Segoe UI Semibold"/>
              </a:rPr>
              <a:t>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5532119"/>
            <a:ext cx="92354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E293B"/>
                </a:solidFill>
                <a:latin typeface="Segoe UI Semibold"/>
              </a:rPr>
              <a:t>Nothing is truly deleted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5916167"/>
            <a:ext cx="9235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475569"/>
                </a:solidFill>
                <a:latin typeface="Segoe UI"/>
              </a:rPr>
              <a:t>Members are archived, not erased — so records can be recovered and history is never lost.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0" y="6419088"/>
            <a:ext cx="640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9DB4E6"/>
                </a:solidFill>
                <a:latin typeface="Segoe UI Semibold"/>
              </a:rPr>
              <a:t>WHY IT STAYS AFFORDABLE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6583680" cy="18004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0000"/>
              </a:lnSpc>
              <a:spcAft>
                <a:spcPts val="400"/>
              </a:spcAft>
            </a:pPr>
            <a:r>
              <a:rPr lang="en-PH" sz="13000" dirty="0">
                <a:solidFill>
                  <a:schemeClr val="bg1"/>
                </a:solidFill>
              </a:rPr>
              <a:t>₱</a:t>
            </a:r>
            <a:r>
              <a:rPr sz="13000" b="1" dirty="0">
                <a:solidFill>
                  <a:srgbClr val="FFFFFF"/>
                </a:solidFill>
                <a:latin typeface="Segoe UI Semibold"/>
              </a:rPr>
              <a:t>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429000"/>
            <a:ext cx="6400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>
                <a:solidFill>
                  <a:srgbClr val="C9D8F5"/>
                </a:solidFill>
                <a:latin typeface="Segoe UI Light"/>
              </a:rPr>
              <a:t>per month to operate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206240"/>
            <a:ext cx="658368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C9D8F5"/>
                </a:solidFill>
                <a:latin typeface="Segoe UI"/>
              </a:rPr>
              <a:t>The dashboard runs entirely on free tiers. No servers to rent, no per-user licenses, no monthly software bill — keeping cost at zero is a core design rule, not an accident.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1554480"/>
            <a:ext cx="3566160" cy="1051560"/>
          </a:xfrm>
          <a:prstGeom prst="roundRect">
            <a:avLst>
              <a:gd name="adj" fmla="val 10000"/>
            </a:avLst>
          </a:prstGeom>
          <a:solidFill>
            <a:srgbClr val="16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138160" y="1719072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9DB4E6"/>
                </a:solidFill>
                <a:latin typeface="Segoe UI Semibold"/>
              </a:rPr>
              <a:t>HOSTING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2029968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Segoe UI Semibold"/>
              </a:rPr>
              <a:t>Free static hosting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2770632"/>
            <a:ext cx="3566160" cy="1051560"/>
          </a:xfrm>
          <a:prstGeom prst="roundRect">
            <a:avLst>
              <a:gd name="adj" fmla="val 10000"/>
            </a:avLst>
          </a:prstGeom>
          <a:solidFill>
            <a:srgbClr val="16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38160" y="2935224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9DB4E6"/>
                </a:solidFill>
                <a:latin typeface="Segoe UI Semibold"/>
              </a:rPr>
              <a:t>DATABASE &amp; LOGIN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324612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Segoe UI Semibold"/>
              </a:rPr>
              <a:t>Free managed tier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18120" y="3986784"/>
            <a:ext cx="3566160" cy="1051560"/>
          </a:xfrm>
          <a:prstGeom prst="roundRect">
            <a:avLst>
              <a:gd name="adj" fmla="val 10000"/>
            </a:avLst>
          </a:prstGeom>
          <a:solidFill>
            <a:srgbClr val="16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38160" y="4151376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9DB4E6"/>
                </a:solidFill>
                <a:latin typeface="Segoe UI Semibold"/>
              </a:rPr>
              <a:t>PER-USER COST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4462272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Segoe UI Semibold"/>
              </a:rPr>
              <a:t>None — add staff freely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18120" y="5202936"/>
            <a:ext cx="3566160" cy="1051560"/>
          </a:xfrm>
          <a:prstGeom prst="roundRect">
            <a:avLst>
              <a:gd name="adj" fmla="val 10000"/>
            </a:avLst>
          </a:prstGeom>
          <a:solidFill>
            <a:srgbClr val="16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38160" y="5367528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9DB4E6"/>
                </a:solidFill>
                <a:latin typeface="Segoe UI Semibold"/>
              </a:rPr>
              <a:t>SCALES 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5678424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Segoe UI Semibold"/>
              </a:rPr>
              <a:t>Multiple churches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0" y="6419088"/>
            <a:ext cx="640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A56DB"/>
                </a:solidFill>
                <a:latin typeface="Segoe UI Semibold"/>
              </a:rPr>
              <a:t>IN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96112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>
                <a:solidFill>
                  <a:srgbClr val="1E293B"/>
                </a:solidFill>
                <a:latin typeface="Segoe UI Semibold"/>
              </a:rPr>
              <a:t>What the dashboard solves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481328"/>
            <a:ext cx="822960" cy="5080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1874519"/>
            <a:ext cx="342900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1874519"/>
            <a:ext cx="63500" cy="169164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3000" y="2075687"/>
            <a:ext cx="2880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A56DB"/>
                </a:solidFill>
                <a:latin typeface="Segoe UI Semibold"/>
              </a:rPr>
              <a:t>Scattered records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532887"/>
            <a:ext cx="2880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475569"/>
                </a:solidFill>
                <a:latin typeface="Segoe UI"/>
              </a:rPr>
              <a:t>One trusted, searchable home for every member.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07992" y="1874519"/>
            <a:ext cx="342900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07992" y="1874519"/>
            <a:ext cx="63500" cy="1691640"/>
          </a:xfrm>
          <a:prstGeom prst="rect">
            <a:avLst/>
          </a:prstGeom>
          <a:solidFill>
            <a:srgbClr val="0F9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28032" y="2075687"/>
            <a:ext cx="2880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9D58"/>
                </a:solidFill>
                <a:latin typeface="Segoe UI Semibold"/>
              </a:rPr>
              <a:t>Manual bookkeeping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28032" y="2532887"/>
            <a:ext cx="2880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475569"/>
                </a:solidFill>
                <a:latin typeface="Segoe UI"/>
              </a:rPr>
              <a:t>Finances record themselves into a monthly report.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93024" y="1874519"/>
            <a:ext cx="342900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93024" y="1874519"/>
            <a:ext cx="63500" cy="169164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13064" y="2075687"/>
            <a:ext cx="2880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E7490"/>
                </a:solidFill>
                <a:latin typeface="Segoe UI Semibold"/>
              </a:rPr>
              <a:t>Paper attendance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13064" y="2532887"/>
            <a:ext cx="2880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475569"/>
                </a:solidFill>
                <a:latin typeface="Segoe UI"/>
              </a:rPr>
              <a:t>QR self-check-in, counted automatically.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840479"/>
            <a:ext cx="342900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22960" y="3840479"/>
            <a:ext cx="63500" cy="169164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43000" y="4041647"/>
            <a:ext cx="2880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6D28D9"/>
                </a:solidFill>
                <a:latin typeface="Segoe UI Semibold"/>
              </a:rPr>
              <a:t>Anyone seeing anything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4498847"/>
            <a:ext cx="2880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475569"/>
                </a:solidFill>
                <a:latin typeface="Segoe UI"/>
              </a:rPr>
              <a:t>Roles and ministries decide who sees what.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07992" y="3840479"/>
            <a:ext cx="342900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07992" y="3840479"/>
            <a:ext cx="63500" cy="16916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828032" y="4041647"/>
            <a:ext cx="2880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D97706"/>
                </a:solidFill>
                <a:latin typeface="Segoe UI Semibold"/>
              </a:rPr>
              <a:t>Churches working alone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28032" y="4498847"/>
            <a:ext cx="2880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475569"/>
                </a:solidFill>
                <a:latin typeface="Segoe UI"/>
              </a:rPr>
              <a:t>Separate per church, with one leadership view.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93024" y="3840479"/>
            <a:ext cx="342900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193024" y="3840479"/>
            <a:ext cx="63500" cy="169164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513064" y="4041647"/>
            <a:ext cx="2880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E293B"/>
                </a:solidFill>
                <a:latin typeface="Segoe UI Semibold"/>
              </a:rPr>
              <a:t>Costly software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13064" y="4498847"/>
            <a:ext cx="2880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475569"/>
                </a:solidFill>
                <a:latin typeface="Segoe UI"/>
              </a:rPr>
              <a:t>$0 / month, forever by design.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0" y="6419088"/>
            <a:ext cx="640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22960" y="2286000"/>
            <a:ext cx="1005840" cy="63500"/>
          </a:xfrm>
          <a:prstGeom prst="rect">
            <a:avLst/>
          </a:prstGeom>
          <a:solidFill>
            <a:srgbClr val="93B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04672" y="2514600"/>
            <a:ext cx="104241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Segoe UI Semibold"/>
              </a:rPr>
              <a:t>Everything the church needs — in one secure place.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77639"/>
            <a:ext cx="9601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C9D8F5"/>
                </a:solidFill>
                <a:latin typeface="Segoe UI Light"/>
              </a:rPr>
              <a:t>Members, attendance, finances, and ministries — protected by role, ready across every church, and free to run.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064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9DB4E6"/>
                </a:solidFill>
                <a:latin typeface="Segoe UI Semibold"/>
              </a:rPr>
              <a:t>United Door of Faith Church  ·  Church Dashboard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A56DB"/>
                </a:solidFill>
                <a:latin typeface="Segoe UI Semibold"/>
              </a:rPr>
              <a:t>WHAT'S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96112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>
                <a:solidFill>
                  <a:srgbClr val="1E293B"/>
                </a:solidFill>
                <a:latin typeface="Segoe UI Semibold"/>
              </a:rPr>
              <a:t>Statistics Report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481328"/>
            <a:ext cx="822960" cy="5080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189720" y="896112"/>
            <a:ext cx="2194560" cy="502920"/>
          </a:xfrm>
          <a:prstGeom prst="roundRect">
            <a:avLst>
              <a:gd name="adj" fmla="val 50000"/>
            </a:avLst>
          </a:prstGeom>
          <a:solidFill>
            <a:srgbClr val="FDF0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464040" y="1060704"/>
            <a:ext cx="173736" cy="173736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738360" y="896112"/>
            <a:ext cx="15544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06"/>
                </a:solidFill>
                <a:latin typeface="Segoe UI Semibold"/>
              </a:rPr>
              <a:t>PLANNING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011680"/>
            <a:ext cx="1097280" cy="1097280"/>
          </a:xfrm>
          <a:prstGeom prst="roundRect">
            <a:avLst>
              <a:gd name="adj" fmla="val 50000"/>
            </a:avLst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2011680"/>
            <a:ext cx="109728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Segoe UI Semibold"/>
              </a:rPr>
              <a:t>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337560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A56DB"/>
                </a:solidFill>
                <a:latin typeface="Segoe UI Semibold"/>
              </a:rPr>
              <a:t>FOR THE SECRETARIAT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703320"/>
            <a:ext cx="452628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475569"/>
                </a:solidFill>
                <a:latin typeface="Segoe UI"/>
              </a:rPr>
              <a:t>A reporting hub that turns the church's existing records — members, attendance, and giving — into clear numbers, trends, and print-ready summaries to share with leadership.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1691640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A56DB"/>
                </a:solidFill>
                <a:latin typeface="Segoe UI Semibold"/>
              </a:rPr>
              <a:t>WHAT IT WILL SHOW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32120" y="2011680"/>
            <a:ext cx="5852160" cy="278892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5852160" y="2368296"/>
            <a:ext cx="146304" cy="146304"/>
          </a:xfrm>
          <a:prstGeom prst="ellipse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53912" y="2286000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1E293B"/>
                </a:solidFill>
                <a:latin typeface="Segoe UI"/>
              </a:rPr>
              <a:t>Membership growth over time</a:t>
            </a:r>
          </a:p>
        </p:txBody>
      </p:sp>
      <p:sp>
        <p:nvSpPr>
          <p:cNvPr id="17" name="Oval 16"/>
          <p:cNvSpPr/>
          <p:nvPr/>
        </p:nvSpPr>
        <p:spPr>
          <a:xfrm>
            <a:off x="5852160" y="2857500"/>
            <a:ext cx="146304" cy="146304"/>
          </a:xfrm>
          <a:prstGeom prst="ellipse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53912" y="2775204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1E293B"/>
                </a:solidFill>
                <a:latin typeface="Segoe UI"/>
              </a:rPr>
              <a:t>Attendance trends, service by service</a:t>
            </a:r>
          </a:p>
        </p:txBody>
      </p:sp>
      <p:sp>
        <p:nvSpPr>
          <p:cNvPr id="19" name="Oval 18"/>
          <p:cNvSpPr/>
          <p:nvPr/>
        </p:nvSpPr>
        <p:spPr>
          <a:xfrm>
            <a:off x="5852160" y="3346704"/>
            <a:ext cx="146304" cy="146304"/>
          </a:xfrm>
          <a:prstGeom prst="ellipse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53912" y="3264408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1E293B"/>
                </a:solidFill>
                <a:latin typeface="Segoe UI"/>
              </a:rPr>
              <a:t>Giving summaries and totals</a:t>
            </a:r>
          </a:p>
        </p:txBody>
      </p:sp>
      <p:sp>
        <p:nvSpPr>
          <p:cNvPr id="21" name="Oval 20"/>
          <p:cNvSpPr/>
          <p:nvPr/>
        </p:nvSpPr>
        <p:spPr>
          <a:xfrm>
            <a:off x="5852160" y="3835908"/>
            <a:ext cx="146304" cy="146304"/>
          </a:xfrm>
          <a:prstGeom prst="ellipse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53912" y="3753612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1E293B"/>
                </a:solidFill>
                <a:latin typeface="Segoe UI"/>
              </a:rPr>
              <a:t>Ministry &amp; small-group participation</a:t>
            </a:r>
          </a:p>
        </p:txBody>
      </p:sp>
      <p:sp>
        <p:nvSpPr>
          <p:cNvPr id="23" name="Oval 22"/>
          <p:cNvSpPr/>
          <p:nvPr/>
        </p:nvSpPr>
        <p:spPr>
          <a:xfrm>
            <a:off x="5852160" y="4325112"/>
            <a:ext cx="146304" cy="146304"/>
          </a:xfrm>
          <a:prstGeom prst="ellipse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153912" y="4242816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dirty="0">
                <a:solidFill>
                  <a:srgbClr val="1E293B"/>
                </a:solidFill>
                <a:latin typeface="Segoe UI"/>
              </a:rPr>
              <a:t>One click, print-ready for meetings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0292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4748B"/>
                </a:solidFill>
                <a:latin typeface="Segoe UI Semibold"/>
              </a:rPr>
              <a:t>CURRENT STATUS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5394960"/>
            <a:ext cx="2286000" cy="585216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2960" y="5394960"/>
            <a:ext cx="2286000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Segoe UI Semibold"/>
              </a:rPr>
              <a:t>●  Planning (now)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410712" y="5394960"/>
            <a:ext cx="2286000" cy="58521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410712" y="5394960"/>
            <a:ext cx="2286000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64748B"/>
                </a:solidFill>
                <a:latin typeface="Segoe UI Semibold"/>
              </a:rPr>
              <a:t>Design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5394960"/>
            <a:ext cx="301752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B6C2D4"/>
                </a:solidFill>
                <a:latin typeface="Segoe UI"/>
              </a:rPr>
              <a:t>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98464" y="5394960"/>
            <a:ext cx="2286000" cy="58521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998464" y="5394960"/>
            <a:ext cx="2286000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64748B"/>
                </a:solidFill>
                <a:latin typeface="Segoe UI Semibold"/>
              </a:rPr>
              <a:t>Build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96712" y="5394960"/>
            <a:ext cx="301752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B6C2D4"/>
                </a:solidFill>
                <a:latin typeface="Segoe UI"/>
              </a:rP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586216" y="5394960"/>
            <a:ext cx="2286000" cy="58521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586216" y="5394960"/>
            <a:ext cx="2286000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64748B"/>
                </a:solidFill>
                <a:latin typeface="Segoe UI Semibold"/>
              </a:rPr>
              <a:t>Launch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84464" y="5394960"/>
            <a:ext cx="301752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B6C2D4"/>
                </a:solidFill>
                <a:latin typeface="Segoe UI"/>
              </a:rPr>
              <a:t>›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30000" y="6419088"/>
            <a:ext cx="640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A56DB"/>
                </a:solidFill>
                <a:latin typeface="Segoe UI Semibold"/>
              </a:rPr>
              <a:t>THE ROAD AHEAD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96112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>
                <a:solidFill>
                  <a:srgbClr val="1E293B"/>
                </a:solidFill>
                <a:latin typeface="Segoe UI Semibold"/>
              </a:rPr>
              <a:t>What's to come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417828"/>
            <a:ext cx="822960" cy="5080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513078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dirty="0">
                <a:solidFill>
                  <a:srgbClr val="64748B"/>
                </a:solidFill>
                <a:latin typeface="Segoe UI Light"/>
              </a:rPr>
              <a:t>Planned next — shaped around real church needs.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057400"/>
            <a:ext cx="3346704" cy="18105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2960" y="2057400"/>
            <a:ext cx="3346704" cy="109728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115568" y="2350008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15568" y="2350008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8" y="2331720"/>
            <a:ext cx="224942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E293B"/>
                </a:solidFill>
                <a:latin typeface="Segoe UI Semibold"/>
              </a:rPr>
              <a:t>Refinement of Church Funds</a:t>
            </a:r>
          </a:p>
        </p:txBody>
      </p:sp>
      <p:sp>
        <p:nvSpPr>
          <p:cNvPr id="12" name="Oval 11"/>
          <p:cNvSpPr/>
          <p:nvPr/>
        </p:nvSpPr>
        <p:spPr>
          <a:xfrm>
            <a:off x="1152144" y="3063240"/>
            <a:ext cx="109728" cy="109728"/>
          </a:xfrm>
          <a:prstGeom prst="ellipse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89888" y="2990088"/>
            <a:ext cx="247802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475569"/>
                </a:solidFill>
                <a:latin typeface="Segoe UI"/>
              </a:rPr>
              <a:t>Expenses customization</a:t>
            </a:r>
          </a:p>
        </p:txBody>
      </p:sp>
      <p:sp>
        <p:nvSpPr>
          <p:cNvPr id="14" name="Oval 13"/>
          <p:cNvSpPr/>
          <p:nvPr/>
        </p:nvSpPr>
        <p:spPr>
          <a:xfrm>
            <a:off x="1152144" y="3374136"/>
            <a:ext cx="109728" cy="109728"/>
          </a:xfrm>
          <a:prstGeom prst="ellipse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389888" y="3300984"/>
            <a:ext cx="247802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475569"/>
                </a:solidFill>
                <a:latin typeface="Segoe UI"/>
              </a:rPr>
              <a:t>Custom calculations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25696" y="2057400"/>
            <a:ext cx="3346704" cy="18105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425696" y="2057400"/>
            <a:ext cx="3346704" cy="109728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718304" y="2350008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718304" y="2350008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66944" y="2331720"/>
            <a:ext cx="224942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E293B"/>
                </a:solidFill>
                <a:latin typeface="Segoe UI Semibold"/>
              </a:rPr>
              <a:t>Discipleship Journey</a:t>
            </a:r>
          </a:p>
        </p:txBody>
      </p:sp>
      <p:sp>
        <p:nvSpPr>
          <p:cNvPr id="21" name="Oval 20"/>
          <p:cNvSpPr/>
          <p:nvPr/>
        </p:nvSpPr>
        <p:spPr>
          <a:xfrm>
            <a:off x="4754880" y="3063240"/>
            <a:ext cx="109728" cy="10972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992624" y="2990088"/>
            <a:ext cx="247802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475569"/>
                </a:solidFill>
                <a:latin typeface="Segoe UI"/>
              </a:rPr>
              <a:t>A guided journey for each member</a:t>
            </a:r>
          </a:p>
        </p:txBody>
      </p:sp>
      <p:sp>
        <p:nvSpPr>
          <p:cNvPr id="23" name="Oval 22"/>
          <p:cNvSpPr/>
          <p:nvPr/>
        </p:nvSpPr>
        <p:spPr>
          <a:xfrm>
            <a:off x="4754880" y="3374136"/>
            <a:ext cx="109728" cy="10972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992624" y="3300984"/>
            <a:ext cx="247802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475569"/>
                </a:solidFill>
                <a:latin typeface="Segoe UI"/>
              </a:rPr>
              <a:t>Replaces the baptized / one-to-one / Turning Point checklist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28432" y="2057400"/>
            <a:ext cx="3346704" cy="18105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028432" y="2057400"/>
            <a:ext cx="3346704" cy="109728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8321040" y="2350008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21040" y="2350008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69680" y="2331720"/>
            <a:ext cx="224942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E293B"/>
                </a:solidFill>
                <a:latin typeface="Segoe UI Semibold"/>
              </a:rPr>
              <a:t>Church Calendar</a:t>
            </a:r>
          </a:p>
        </p:txBody>
      </p:sp>
      <p:sp>
        <p:nvSpPr>
          <p:cNvPr id="30" name="Oval 29"/>
          <p:cNvSpPr/>
          <p:nvPr/>
        </p:nvSpPr>
        <p:spPr>
          <a:xfrm>
            <a:off x="8357616" y="3063240"/>
            <a:ext cx="109728" cy="109728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595360" y="2990088"/>
            <a:ext cx="247802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475569"/>
                </a:solidFill>
                <a:latin typeface="Segoe UI"/>
              </a:rPr>
              <a:t>A shared calendar of services, meetings, and church-wide dates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" y="4123944"/>
            <a:ext cx="3346704" cy="18105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22960" y="4123944"/>
            <a:ext cx="3346704" cy="109728"/>
          </a:xfrm>
          <a:prstGeom prst="rect">
            <a:avLst/>
          </a:prstGeom>
          <a:solidFill>
            <a:srgbClr val="0F9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1115568" y="441655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0F9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115568" y="4416552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64208" y="4398264"/>
            <a:ext cx="224942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E293B"/>
                </a:solidFill>
                <a:latin typeface="Segoe UI Semibold"/>
              </a:rPr>
              <a:t>Events Planning</a:t>
            </a:r>
          </a:p>
        </p:txBody>
      </p:sp>
      <p:sp>
        <p:nvSpPr>
          <p:cNvPr id="37" name="Oval 36"/>
          <p:cNvSpPr/>
          <p:nvPr/>
        </p:nvSpPr>
        <p:spPr>
          <a:xfrm>
            <a:off x="1152144" y="5129784"/>
            <a:ext cx="109728" cy="109728"/>
          </a:xfrm>
          <a:prstGeom prst="ellipse">
            <a:avLst/>
          </a:prstGeom>
          <a:solidFill>
            <a:srgbClr val="0F9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389888" y="5056632"/>
            <a:ext cx="247802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475569"/>
                </a:solidFill>
                <a:latin typeface="Segoe UI"/>
              </a:rPr>
              <a:t>Plan events end to end — details, people, and resources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425696" y="4123944"/>
            <a:ext cx="3346704" cy="18105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4425696" y="4123944"/>
            <a:ext cx="3346704" cy="10972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4718304" y="441655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718304" y="4416552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Segoe UI Semibold"/>
              </a:rPr>
              <a:t>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266944" y="4398264"/>
            <a:ext cx="224942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E293B"/>
                </a:solidFill>
                <a:latin typeface="Segoe UI Semibold"/>
              </a:rPr>
              <a:t>Approval Workflows</a:t>
            </a:r>
          </a:p>
        </p:txBody>
      </p:sp>
      <p:sp>
        <p:nvSpPr>
          <p:cNvPr id="44" name="Oval 43"/>
          <p:cNvSpPr/>
          <p:nvPr/>
        </p:nvSpPr>
        <p:spPr>
          <a:xfrm>
            <a:off x="4754880" y="5129784"/>
            <a:ext cx="109728" cy="109728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992624" y="5056632"/>
            <a:ext cx="247802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475569"/>
                </a:solidFill>
                <a:latin typeface="Segoe UI"/>
              </a:rPr>
              <a:t>New small groups &amp; ministries</a:t>
            </a:r>
          </a:p>
        </p:txBody>
      </p:sp>
      <p:sp>
        <p:nvSpPr>
          <p:cNvPr id="46" name="Oval 45"/>
          <p:cNvSpPr/>
          <p:nvPr/>
        </p:nvSpPr>
        <p:spPr>
          <a:xfrm>
            <a:off x="4754880" y="5440680"/>
            <a:ext cx="109728" cy="109728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992624" y="5367528"/>
            <a:ext cx="247802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475569"/>
                </a:solidFill>
                <a:latin typeface="Segoe UI"/>
              </a:rPr>
              <a:t>Appointing small-group leaders</a:t>
            </a:r>
          </a:p>
        </p:txBody>
      </p:sp>
      <p:sp>
        <p:nvSpPr>
          <p:cNvPr id="48" name="Oval 47"/>
          <p:cNvSpPr/>
          <p:nvPr/>
        </p:nvSpPr>
        <p:spPr>
          <a:xfrm>
            <a:off x="4754880" y="5751576"/>
            <a:ext cx="109728" cy="109728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992624" y="5678424"/>
            <a:ext cx="247802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475569"/>
                </a:solidFill>
                <a:latin typeface="Segoe UI"/>
              </a:rPr>
              <a:t>New events — and more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028432" y="4123944"/>
            <a:ext cx="3346704" cy="1810512"/>
          </a:xfrm>
          <a:prstGeom prst="roundRect">
            <a:avLst>
              <a:gd name="adj" fmla="val 6000"/>
            </a:avLst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394192" y="4379976"/>
            <a:ext cx="261518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BFD3F7"/>
                </a:solidFill>
                <a:latin typeface="Segoe UI Semibold"/>
              </a:rPr>
              <a:t>6  ·  LET'S BUILD IT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94192" y="4690872"/>
            <a:ext cx="2615184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Segoe UI Semibold"/>
              </a:rPr>
              <a:t>Have a real church problem to solve?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94192" y="5422392"/>
            <a:ext cx="261518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DCE6FA"/>
                </a:solidFill>
                <a:latin typeface="Segoe UI"/>
              </a:rPr>
              <a:t>Submit your request — and we'll build it.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430000" y="6419088"/>
            <a:ext cx="640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1447</Words>
  <Application>Microsoft Office PowerPoint</Application>
  <PresentationFormat>Widescreen</PresentationFormat>
  <Paragraphs>293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Segoe UI</vt:lpstr>
      <vt:lpstr>Segoe UI Light</vt:lpstr>
      <vt:lpstr>Segoe UI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Racquel Disbarro</cp:lastModifiedBy>
  <cp:revision>2</cp:revision>
  <dcterms:created xsi:type="dcterms:W3CDTF">2013-01-27T09:14:16Z</dcterms:created>
  <dcterms:modified xsi:type="dcterms:W3CDTF">2026-08-07T02:08:44Z</dcterms:modified>
  <cp:category/>
</cp:coreProperties>
</file>